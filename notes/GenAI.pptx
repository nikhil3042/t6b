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6B6D4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8B5CF6">
              <a:alpha val="2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0" y="8229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286000" y="14173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2286000" y="2560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Foundations, Prompting &amp; Responsible AI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3200400"/>
            <a:ext cx="4114800" cy="402336"/>
          </a:xfrm>
          <a:prstGeom prst="roundRect">
            <a:avLst>
              <a:gd name="adj" fmla="val 11364"/>
            </a:avLst>
          </a:prstGeom>
          <a:solidFill>
            <a:srgbClr val="1E293B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3200400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Gen AI?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3703320"/>
            <a:ext cx="4114800" cy="402336"/>
          </a:xfrm>
          <a:prstGeom prst="roundRect">
            <a:avLst>
              <a:gd name="adj" fmla="val 11364"/>
            </a:avLst>
          </a:prstGeom>
          <a:solidFill>
            <a:srgbClr val="1E293B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3703320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LLMs Work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4206240"/>
            <a:ext cx="4114800" cy="402336"/>
          </a:xfrm>
          <a:prstGeom prst="roundRect">
            <a:avLst>
              <a:gd name="adj" fmla="val 11364"/>
            </a:avLst>
          </a:prstGeom>
          <a:solidFill>
            <a:srgbClr val="1E293B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4206240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846320" y="3200400"/>
            <a:ext cx="4114800" cy="402336"/>
          </a:xfrm>
          <a:prstGeom prst="roundRect">
            <a:avLst>
              <a:gd name="adj" fmla="val 11364"/>
            </a:avLst>
          </a:prstGeom>
          <a:solidFill>
            <a:srgbClr val="1E293B"/>
          </a:solidFill>
          <a:ln/>
        </p:spPr>
      </p:sp>
      <p:sp>
        <p:nvSpPr>
          <p:cNvPr id="15" name="Text 12"/>
          <p:cNvSpPr/>
          <p:nvPr/>
        </p:nvSpPr>
        <p:spPr>
          <a:xfrm>
            <a:off x="4846320" y="3200400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Hallucinations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846320" y="3703320"/>
            <a:ext cx="4114800" cy="402336"/>
          </a:xfrm>
          <a:prstGeom prst="roundRect">
            <a:avLst>
              <a:gd name="adj" fmla="val 11364"/>
            </a:avLst>
          </a:prstGeom>
          <a:solidFill>
            <a:srgbClr val="1E293B"/>
          </a:solidFill>
          <a:ln/>
        </p:spPr>
      </p:sp>
      <p:sp>
        <p:nvSpPr>
          <p:cNvPr id="17" name="Text 14"/>
          <p:cNvSpPr/>
          <p:nvPr/>
        </p:nvSpPr>
        <p:spPr>
          <a:xfrm>
            <a:off x="4846320" y="3703320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&amp; Vector DBs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846320" y="4206240"/>
            <a:ext cx="4114800" cy="402336"/>
          </a:xfrm>
          <a:prstGeom prst="roundRect">
            <a:avLst>
              <a:gd name="adj" fmla="val 11364"/>
            </a:avLst>
          </a:prstGeom>
          <a:solidFill>
            <a:srgbClr val="1E293B"/>
          </a:solidFill>
          <a:ln/>
        </p:spPr>
      </p:sp>
      <p:sp>
        <p:nvSpPr>
          <p:cNvPr id="19" name="Text 16"/>
          <p:cNvSpPr/>
          <p:nvPr/>
        </p:nvSpPr>
        <p:spPr>
          <a:xfrm>
            <a:off x="4846320" y="4206240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&amp; Responsible 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a Family of Tools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is just one branch of the larger AI tree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1874520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2743200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3611880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5303520" cy="777240"/>
          </a:xfrm>
          <a:prstGeom prst="rect">
            <a:avLst/>
          </a:prstGeom>
          <a:solidFill>
            <a:srgbClr val="0F2E5A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097280"/>
            <a:ext cx="73152" cy="7772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152144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499616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field of making machines smart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965960"/>
            <a:ext cx="5303520" cy="777240"/>
          </a:xfrm>
          <a:prstGeom prst="rect">
            <a:avLst/>
          </a:prstGeom>
          <a:solidFill>
            <a:srgbClr val="1A4480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965960"/>
            <a:ext cx="73152" cy="7772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020824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2368296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data without explicit rules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834640"/>
            <a:ext cx="5303520" cy="777240"/>
          </a:xfrm>
          <a:prstGeom prst="rect">
            <a:avLst/>
          </a:prstGeom>
          <a:solidFill>
            <a:srgbClr val="1565C0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834640"/>
            <a:ext cx="73152" cy="7772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889504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236976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with many layers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703320"/>
            <a:ext cx="5303520" cy="777240"/>
          </a:xfrm>
          <a:prstGeom prst="rect">
            <a:avLst/>
          </a:prstGeom>
          <a:solidFill>
            <a:srgbClr val="0277BD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703320"/>
            <a:ext cx="73152" cy="7772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758184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✨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4105656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NEW content: text, images, code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52160" y="10972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852160" y="1463040"/>
            <a:ext cx="3017520" cy="713232"/>
          </a:xfrm>
          <a:prstGeom prst="rect">
            <a:avLst/>
          </a:prstGeom>
          <a:solidFill>
            <a:srgbClr val="E2E8F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852160" y="14813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52160" y="179222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filter, image labelling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852160" y="2286000"/>
            <a:ext cx="3017520" cy="713232"/>
          </a:xfrm>
          <a:prstGeom prst="rect">
            <a:avLst/>
          </a:prstGeom>
          <a:solidFill>
            <a:srgbClr val="E2E8F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852160" y="230428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852160" y="261518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clustering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852160" y="3108960"/>
            <a:ext cx="3017520" cy="713232"/>
          </a:xfrm>
          <a:prstGeom prst="rect">
            <a:avLst/>
          </a:prstGeom>
          <a:solidFill>
            <a:srgbClr val="E2E8F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852160" y="312724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852160" y="343814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playing, robotics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852160" y="3931920"/>
            <a:ext cx="3017520" cy="713232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852160" y="395020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852160" y="426110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Claude, Midjourney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8B5CF6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Generative AI?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can CREATE new content — not just classify or predict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2011680" cy="237744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4173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2148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74320" y="254203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Emails, essays, summaries, code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450592" y="1280160"/>
            <a:ext cx="2011680" cy="237744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392" y="141732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450592" y="2148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2450592" y="254203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Logos, artwork, product photos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626864" y="1280160"/>
            <a:ext cx="2011680" cy="237744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2664" y="1417320"/>
            <a:ext cx="640080" cy="6400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626864" y="2148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4626864" y="254203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Music, speech synthesis, sound fx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803136" y="1280160"/>
            <a:ext cx="2011680" cy="237744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8936" y="1417320"/>
            <a:ext cx="640080" cy="6400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03136" y="2148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6803136" y="254203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JS, SQL, Shell scripts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274320" y="3794760"/>
            <a:ext cx="8595360" cy="1005840"/>
          </a:xfrm>
          <a:prstGeom prst="roundRect">
            <a:avLst>
              <a:gd name="adj" fmla="val 7273"/>
            </a:avLst>
          </a:prstGeom>
          <a:solidFill>
            <a:srgbClr val="1E3A5F"/>
          </a:solidFill>
          <a:ln/>
        </p:spPr>
      </p:sp>
      <p:sp>
        <p:nvSpPr>
          <p:cNvPr id="22" name="Text 16"/>
          <p:cNvSpPr/>
          <p:nvPr/>
        </p:nvSpPr>
        <p:spPr>
          <a:xfrm>
            <a:off x="457200" y="384048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Think of it like hiring a fresh college graduate who has read the entire internet — they can write, draw, code, and talk, but they can also make things up!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LLMs Work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predict the next most likely word — over and over again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389120" cy="32004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8872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Prediction Example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4206240" cy="65836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0992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89280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favourite food is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34640" y="17373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dosa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4206240" cy="65836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4871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6700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favourite food is dosa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834640" y="25146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246120"/>
            <a:ext cx="4206240" cy="65836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644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44728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favourite food is dosa at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34640" y="32918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CTR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406908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Repeat millions of times on billions of sentences → LLM!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1188720"/>
            <a:ext cx="3840480" cy="1078992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417320"/>
            <a:ext cx="548640" cy="5486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715000" y="126187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Collect Data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715000" y="1627632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Books, websites, 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(hundreds of billions of words)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675120" y="22860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937760" y="2468880"/>
            <a:ext cx="3840480" cy="1078992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697480"/>
            <a:ext cx="548640" cy="54864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715000" y="254203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Train Model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5715000" y="2907792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next word millions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times, adjust weights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6675120" y="35661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4937760" y="3749040"/>
            <a:ext cx="3840480" cy="1078992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3977640"/>
            <a:ext cx="548640" cy="54864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715000" y="382219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Deploy LLM</a:t>
            </a:r>
            <a:endParaRPr lang="en-US" sz="1400" dirty="0"/>
          </a:p>
        </p:txBody>
      </p:sp>
      <p:sp>
        <p:nvSpPr>
          <p:cNvPr id="32" name="Text 27"/>
          <p:cNvSpPr/>
          <p:nvPr/>
        </p:nvSpPr>
        <p:spPr>
          <a:xfrm>
            <a:off x="5715000" y="4187952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GPT-4, Claude, Gemini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chat!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&amp; Context Window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 unit of text for an LLM is a 'token' — roughly ¾ of a word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4846320" cy="1371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618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→ Tokens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64208"/>
            <a:ext cx="868680" cy="384048"/>
          </a:xfrm>
          <a:prstGeom prst="roundRect">
            <a:avLst>
              <a:gd name="adj" fmla="val 9524"/>
            </a:avLst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664208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25880" y="1664208"/>
            <a:ext cx="777240" cy="384048"/>
          </a:xfrm>
          <a:prstGeom prst="roundRect">
            <a:avLst>
              <a:gd name="adj" fmla="val 9524"/>
            </a:avLst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1325880" y="1664208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194560" y="1664208"/>
            <a:ext cx="777240" cy="384048"/>
          </a:xfrm>
          <a:prstGeom prst="roundRect">
            <a:avLst>
              <a:gd name="adj" fmla="val 9524"/>
            </a:avLst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2194560" y="1664208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063240" y="1664208"/>
            <a:ext cx="1143000" cy="384048"/>
          </a:xfrm>
          <a:prstGeom prst="roundRect">
            <a:avLst>
              <a:gd name="adj" fmla="val 9524"/>
            </a:avLst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3063240" y="1664208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really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97680" y="1664208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0" y="166420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smart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40680" y="1664208"/>
            <a:ext cx="594360" cy="384048"/>
          </a:xfrm>
          <a:prstGeom prst="roundRect">
            <a:avLst>
              <a:gd name="adj" fmla="val 9524"/>
            </a:avLst>
          </a:pr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5440680" y="1664208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21214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tokens  ≈  4-5 words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651760"/>
            <a:ext cx="484632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67919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= LLM's Short-Term Memory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312724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GPT-3.5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508760" y="3145536"/>
            <a:ext cx="731520" cy="14630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3" name="Text 21"/>
          <p:cNvSpPr/>
          <p:nvPr/>
        </p:nvSpPr>
        <p:spPr>
          <a:xfrm>
            <a:off x="2331720" y="312724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4K tokens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332841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508760" y="3346704"/>
            <a:ext cx="2286000" cy="14630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6" name="Text 24"/>
          <p:cNvSpPr/>
          <p:nvPr/>
        </p:nvSpPr>
        <p:spPr>
          <a:xfrm>
            <a:off x="3886200" y="332841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128K tokens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352958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3.5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508760" y="3547872"/>
            <a:ext cx="3474720" cy="14630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9" name="Text 27"/>
          <p:cNvSpPr/>
          <p:nvPr/>
        </p:nvSpPr>
        <p:spPr>
          <a:xfrm>
            <a:off x="5074920" y="352958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200K tokens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373075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1.5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508760" y="3749040"/>
            <a:ext cx="4754880" cy="14630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2" name="Text 30"/>
          <p:cNvSpPr/>
          <p:nvPr/>
        </p:nvSpPr>
        <p:spPr>
          <a:xfrm>
            <a:off x="6355080" y="373075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 tokens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394960" y="1234440"/>
            <a:ext cx="3474720" cy="28803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440680" y="1280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Transformers: The Engine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440680" y="1737360"/>
            <a:ext cx="333756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4"/>
          <p:cNvSpPr/>
          <p:nvPr/>
        </p:nvSpPr>
        <p:spPr>
          <a:xfrm>
            <a:off x="5532120" y="1755648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Input tokens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40680" y="2176272"/>
            <a:ext cx="3337560" cy="38404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8" name="Text 36"/>
          <p:cNvSpPr/>
          <p:nvPr/>
        </p:nvSpPr>
        <p:spPr>
          <a:xfrm>
            <a:off x="5532120" y="219456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Self-Attention: 'How do these words relate?'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40680" y="2615184"/>
            <a:ext cx="333756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0" name="Text 38"/>
          <p:cNvSpPr/>
          <p:nvPr/>
        </p:nvSpPr>
        <p:spPr>
          <a:xfrm>
            <a:off x="5532120" y="2633472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Each word gets a score for every other word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40680" y="3054096"/>
            <a:ext cx="3337560" cy="38404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2" name="Text 40"/>
          <p:cNvSpPr/>
          <p:nvPr/>
        </p:nvSpPr>
        <p:spPr>
          <a:xfrm>
            <a:off x="5532120" y="3072384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🧮  Feed-Forward layers process the scores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440680" y="3493008"/>
            <a:ext cx="333756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4" name="Text 42"/>
          <p:cNvSpPr/>
          <p:nvPr/>
        </p:nvSpPr>
        <p:spPr>
          <a:xfrm>
            <a:off x="5532120" y="3511296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Output: most likely next token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394960" y="39776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Attention = why 'bank' means river bank vs money bank depending on context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Generative AI Models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major players you'll encounter in the real world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34440"/>
            <a:ext cx="4114800" cy="34747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7101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/ GPT-4o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6184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OpenAI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most widely used models. Great at coding, writing, and analysis. Powers ChatGPT.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670048"/>
            <a:ext cx="3840480" cy="274320"/>
          </a:xfrm>
          <a:prstGeom prst="roundRect">
            <a:avLst>
              <a:gd name="adj" fmla="val 16667"/>
            </a:avLst>
          </a:prstGeom>
          <a:solidFill>
            <a:srgbClr val="06B6D4">
              <a:alpha val="2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6700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Coding &amp; Writing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23444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234440"/>
            <a:ext cx="4114800" cy="34747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27101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3.5 Sonnet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00600" y="16184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Anthropic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19202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safety and helpfulness. Excellent at long documents &amp; nuanced reasoning. That's me!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2670048"/>
            <a:ext cx="3840480" cy="274320"/>
          </a:xfrm>
          <a:prstGeom prst="roundRect">
            <a:avLst>
              <a:gd name="adj" fmla="val 16667"/>
            </a:avLst>
          </a:prstGeom>
          <a:solidFill>
            <a:srgbClr val="8B5CF6">
              <a:alpha val="2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26700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Safe &amp; Long-form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24612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246120"/>
            <a:ext cx="4114800" cy="3474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8269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1.5 Pro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5760" y="36301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Google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39319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with Google products. Handles 1M token context — can read an entire codebase!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681728"/>
            <a:ext cx="3840480" cy="274320"/>
          </a:xfrm>
          <a:prstGeom prst="roundRect">
            <a:avLst>
              <a:gd name="adj" fmla="val 16667"/>
            </a:avLst>
          </a:prstGeom>
          <a:solidFill>
            <a:srgbClr val="10B981">
              <a:alpha val="2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6817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Long context &amp; Search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324612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246120"/>
            <a:ext cx="4114800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328269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00600" y="36301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Meta (Open Source)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0600" y="39319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downloadable, runs on your own hardware. Great for privacy-sensitive tasks.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4681728"/>
            <a:ext cx="3840480" cy="274320"/>
          </a:xfrm>
          <a:prstGeom prst="roundRect">
            <a:avLst>
              <a:gd name="adj" fmla="val 16667"/>
            </a:avLst>
          </a:prstGeom>
          <a:solidFill>
            <a:srgbClr val="F59E0B">
              <a:alpha val="2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46817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Private / On-device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00400"/>
            <a:ext cx="3200400" cy="3200400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talk to an LLM determines the quality of its answer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2788920" cy="3520440"/>
          </a:xfrm>
          <a:prstGeom prst="roundRect">
            <a:avLst>
              <a:gd name="adj" fmla="val 393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502920" cy="5029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1965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 &amp; Detailed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2560320" cy="201168"/>
          </a:xfrm>
          <a:prstGeom prst="rect">
            <a:avLst/>
          </a:prstGeom>
          <a:solidFill>
            <a:srgbClr val="EF4444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4871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Write an email about a delay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743200"/>
            <a:ext cx="2560320" cy="201168"/>
          </a:xfrm>
          <a:prstGeom prst="rect">
            <a:avLst/>
          </a:prstGeom>
          <a:solidFill>
            <a:srgbClr val="10B981">
              <a:alpha val="3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74320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Good approach: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2999232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professional email to an enterprise client about a 2-day delay due to vendor issues. Keep tone calm and confident. End with reassurance of Friday delivery.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1280160"/>
            <a:ext cx="2788920" cy="3520440"/>
          </a:xfrm>
          <a:prstGeom prst="roundRect">
            <a:avLst>
              <a:gd name="adj" fmla="val 393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137160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337560" y="1965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the Thinking (Chain of Thought)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37560" y="2487168"/>
            <a:ext cx="2560320" cy="201168"/>
          </a:xfrm>
          <a:prstGeom prst="rect">
            <a:avLst/>
          </a:prstGeom>
          <a:solidFill>
            <a:srgbClr val="EF4444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337560" y="24871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Should we use AI?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37560" y="2743200"/>
            <a:ext cx="2560320" cy="201168"/>
          </a:xfrm>
          <a:prstGeom prst="rect">
            <a:avLst/>
          </a:prstGeom>
          <a:solidFill>
            <a:srgbClr val="10B981">
              <a:alpha val="3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337560" y="274320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Good approach: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37560" y="2999232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we use AI for customer support? Think step-by-step: 1) List 3 benefits 2) List 2 risks 3) Recommend with justification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1280160"/>
            <a:ext cx="2788920" cy="3520440"/>
          </a:xfrm>
          <a:prstGeom prst="roundRect">
            <a:avLst>
              <a:gd name="adj" fmla="val 393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09360" y="137160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309360" y="1965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&amp; Improve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309360" y="2487168"/>
            <a:ext cx="2560320" cy="201168"/>
          </a:xfrm>
          <a:prstGeom prst="rect">
            <a:avLst/>
          </a:prstGeom>
          <a:solidFill>
            <a:srgbClr val="EF4444">
              <a:alpha val="7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24871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Overthink the perfect prompt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309360" y="2743200"/>
            <a:ext cx="2560320" cy="201168"/>
          </a:xfrm>
          <a:prstGeom prst="rect">
            <a:avLst/>
          </a:prstGeom>
          <a:solidFill>
            <a:srgbClr val="10B981">
              <a:alpha val="3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274320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Good approach: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09360" y="2999232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simple → See output → Spot gaps → Refine → Repeat. Treat it like a conversation, not a form!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Great Prompt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4389120" cy="393192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93268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Prompt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4297680" cy="71323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325880"/>
            <a:ext cx="640080" cy="7132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 rot="16200000">
            <a:off x="320040" y="1325880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51560" y="1389888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a senior software tester at a fintech company.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130552"/>
            <a:ext cx="4297680" cy="71323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2130552"/>
            <a:ext cx="640080" cy="71323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 rot="16200000">
            <a:off x="320040" y="2130552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51560" y="219456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5 edge-case test scenarios for a login feature.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935224"/>
            <a:ext cx="4297680" cy="71323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" y="2935224"/>
            <a:ext cx="640080" cy="7132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 rot="16200000">
            <a:off x="320040" y="2935224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51560" y="2999232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has OTP-based login, works on mobile &amp; web, and must comply with GDPR.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739896"/>
            <a:ext cx="4297680" cy="71323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3739896"/>
            <a:ext cx="640080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 rot="16200000">
            <a:off x="320040" y="3739896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51560" y="3803904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 numbered list. Each item: Test Name | Steps | Expected Result.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37760" y="914400"/>
            <a:ext cx="3931920" cy="39319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0" y="9601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Each Part Matters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983480" y="1389888"/>
            <a:ext cx="3749040" cy="56692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5074920" y="1435608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870448" y="14356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persona → better expertise tone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83480" y="2048256"/>
            <a:ext cx="3749040" cy="56692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7" name="Text 25"/>
          <p:cNvSpPr/>
          <p:nvPr/>
        </p:nvSpPr>
        <p:spPr>
          <a:xfrm>
            <a:off x="5074920" y="2093976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870448" y="209397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instruction → focused output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83480" y="2706624"/>
            <a:ext cx="3749040" cy="56692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Text 28"/>
          <p:cNvSpPr/>
          <p:nvPr/>
        </p:nvSpPr>
        <p:spPr>
          <a:xfrm>
            <a:off x="5074920" y="2752344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870448" y="275234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info → relevant answer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83480" y="3364992"/>
            <a:ext cx="3749040" cy="56692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3" name="Text 31"/>
          <p:cNvSpPr/>
          <p:nvPr/>
        </p:nvSpPr>
        <p:spPr>
          <a:xfrm>
            <a:off x="5074920" y="3410712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870448" y="341071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→ easy to use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983480" y="4023360"/>
            <a:ext cx="3749040" cy="56692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4"/>
          <p:cNvSpPr/>
          <p:nvPr/>
        </p:nvSpPr>
        <p:spPr>
          <a:xfrm>
            <a:off x="5074920" y="406908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870448" y="4069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don't just tell → even better!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The more context you give, the smarter the answer!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3657600" cy="3657600"/>
          </a:xfrm>
          <a:prstGeom prst="ellipse">
            <a:avLst/>
          </a:prstGeom>
          <a:solidFill>
            <a:srgbClr val="EF4444">
              <a:alpha val="1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01168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Hallucinations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powerful BUT they have real, well-known weaknesses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74320" y="1234440"/>
            <a:ext cx="2788920" cy="1508760"/>
          </a:xfrm>
          <a:prstGeom prst="roundRect">
            <a:avLst>
              <a:gd name="adj" fmla="val 4848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234440"/>
            <a:ext cx="2788920" cy="347472"/>
          </a:xfrm>
          <a:prstGeom prst="rect">
            <a:avLst/>
          </a:prstGeom>
          <a:solidFill>
            <a:srgbClr val="EF4444">
              <a:alpha val="8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127101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Hallucinations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16459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confidently make up facts. A lawyer was fined for submitting AI-invented case citations!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46120" y="1234440"/>
            <a:ext cx="2788920" cy="1508760"/>
          </a:xfrm>
          <a:prstGeom prst="roundRect">
            <a:avLst>
              <a:gd name="adj" fmla="val 4848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1234440"/>
            <a:ext cx="2788920" cy="347472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3337560" y="127101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Knowledge Cutoff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337560" y="16459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data up to a certain date — doesn't know events after that (e.g. GPT-4's cutoff is early 2024)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217920" y="1234440"/>
            <a:ext cx="2788920" cy="1508760"/>
          </a:xfrm>
          <a:prstGeom prst="roundRect">
            <a:avLst>
              <a:gd name="adj" fmla="val 4848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17920" y="1234440"/>
            <a:ext cx="2788920" cy="347472"/>
          </a:xfrm>
          <a:prstGeom prst="rect">
            <a:avLst/>
          </a:prstGeom>
          <a:solidFill>
            <a:srgbClr val="8B5CF6">
              <a:alpha val="8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6309360" y="127101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 Context Limits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309360" y="16459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process an unlimited amount of text in one go. Input + output must fit within context window.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74320" y="2880360"/>
            <a:ext cx="2788920" cy="1508760"/>
          </a:xfrm>
          <a:prstGeom prst="roundRect">
            <a:avLst>
              <a:gd name="adj" fmla="val 4848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74320" y="2880360"/>
            <a:ext cx="2788920" cy="347472"/>
          </a:xfrm>
          <a:prstGeom prst="rect">
            <a:avLst/>
          </a:prstGeom>
          <a:solidFill>
            <a:srgbClr val="06B6D4">
              <a:alpha val="8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365760" y="291693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Bias &amp; Toxicity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65760" y="32918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real-world text → inherits human biases. 'The surgeon took out ___ car keys' → his!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246120" y="2880360"/>
            <a:ext cx="2788920" cy="1508760"/>
          </a:xfrm>
          <a:prstGeom prst="roundRect">
            <a:avLst>
              <a:gd name="adj" fmla="val 4848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246120" y="2880360"/>
            <a:ext cx="2788920" cy="347472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3337560" y="291693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Bad at Tables/Numbers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337560" y="32918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struggles with structured/tabular data. Use supervised learning or SQL for that!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217920" y="2880360"/>
            <a:ext cx="2788920" cy="1508760"/>
          </a:xfrm>
          <a:prstGeom prst="roundRect">
            <a:avLst>
              <a:gd name="adj" fmla="val 4848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217920" y="2880360"/>
            <a:ext cx="2788920" cy="347472"/>
          </a:xfrm>
          <a:prstGeom prst="rect">
            <a:avLst/>
          </a:prstGeom>
          <a:solidFill>
            <a:srgbClr val="EC4899">
              <a:alpha val="80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6309360" y="291693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Privacy Risks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309360" y="32918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paste confidential client data into public AI tools — it may be used for training!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&amp; Vector Databases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give LLMs accurate, up-to-date, company-specific knowledge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26187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719072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74520" y="16459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103120" y="118872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03120" y="126187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103120" y="1719072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703320" y="16459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931920" y="118872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931920" y="126187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931920" y="1719072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Found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532120" y="16459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760720" y="118872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760720" y="126187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760720" y="1719072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+ Question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60920" y="16459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589520" y="118872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10B981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589520" y="126187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589520" y="1719072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Answer!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743200"/>
            <a:ext cx="4114800" cy="22402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743200"/>
            <a:ext cx="4114800" cy="3474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27614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LLM WITHOUT RAG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3154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May hallucinate outdated info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3566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Doesn't know your company's docs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3977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Can't reference internal policies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389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Generic answers, not specific to you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2743200"/>
            <a:ext cx="4114800" cy="22402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2743200"/>
            <a:ext cx="4114800" cy="3474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27614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LLM WITH RAG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46320" y="3154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Grounded in real, current documents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3566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 answer company-specific questions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46320" y="3977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Cites sources you can verify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46320" y="4389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Far fewer hallucinations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Vector Database?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secret ingredient that makes RAG work — storing meaning, not just words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8595360" cy="1005840"/>
          </a:xfrm>
          <a:prstGeom prst="roundRect">
            <a:avLst>
              <a:gd name="adj" fmla="val 7273"/>
            </a:avLst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Analogy: Imagine a library where books are organized not by title, but by MEANING. 'Dog', 'Puppy', and 'Canine' end up in the same shelf area. That's a vector DB!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237744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651760"/>
            <a:ext cx="530352" cy="53035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65176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4128" y="245059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documents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83464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PDFs/docs into paragraphs or chunks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37744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2651760"/>
            <a:ext cx="530352" cy="53035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265176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58968" y="245059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Embeddings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58968" y="283464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each chunk into a list of numbers (a vector) capturing its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61188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886200"/>
            <a:ext cx="530352" cy="5303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8862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24128" y="368503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in Vector DB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24128" y="406908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all vectors in a special database (Pinecone, ChromaDB, Weaviate)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361188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3886200"/>
            <a:ext cx="530352" cy="5303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38862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58968" y="368503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Search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58968" y="406908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User's question → also a vector → find closest matching document chunks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Vector DBs: Pinecone • ChromaDB • Weaviate • pgvector (in PostgreSQL)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Use Cases in Software Testing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ways testers are using AI today — and tomorrow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2788920" cy="1664208"/>
          </a:xfrm>
          <a:prstGeom prst="roundRect">
            <a:avLst>
              <a:gd name="adj" fmla="val 5495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37160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89280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Generation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258568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feature → AI generates 20+ test cases in seconds including edge cases you'd miss.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234440"/>
            <a:ext cx="2788920" cy="1664208"/>
          </a:xfrm>
          <a:prstGeom prst="roundRect">
            <a:avLst>
              <a:gd name="adj" fmla="val 5495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137160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337560" y="189280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Report Writing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2258568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error logs → AI writes a clear, structured bug report with steps to reproduce.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234440"/>
            <a:ext cx="2788920" cy="1664208"/>
          </a:xfrm>
          <a:prstGeom prst="roundRect">
            <a:avLst>
              <a:gd name="adj" fmla="val 5495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37160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309360" y="189280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 Creation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2258568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realistic dummy data: names, addresses, card numbers, edge-case values.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063240"/>
            <a:ext cx="2788920" cy="1664208"/>
          </a:xfrm>
          <a:prstGeom prst="roundRect">
            <a:avLst>
              <a:gd name="adj" fmla="val 5495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4320" y="320040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65760" y="372160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&amp; QA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4087368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code → AI finds bugs, security holes, and suggests improvements instantly.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3063240"/>
            <a:ext cx="2788920" cy="1664208"/>
          </a:xfrm>
          <a:prstGeom prst="roundRect">
            <a:avLst>
              <a:gd name="adj" fmla="val 5495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46120" y="320040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337560" y="372160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37560" y="4087368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code and writes test plans, API docs, or release notes automatically.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3063240"/>
            <a:ext cx="2788920" cy="1664208"/>
          </a:xfrm>
          <a:prstGeom prst="roundRect">
            <a:avLst>
              <a:gd name="adj" fmla="val 5495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17920" y="320040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309360" y="372160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Script Help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09360" y="4087368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what to test → AI writes Selenium/Playwright/Postman scripts for you.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01168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&amp; Responsible AI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power requires great responsibility — the 3H Framework: Helpful, Honest, Harmless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74320" y="1234440"/>
            <a:ext cx="4754880" cy="804672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11480" y="1261872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Bias &amp; Fairness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11480" y="1572768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reflects training data biases. 'Nurse = female, Engineer = male' — models learn these unfair patterns.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74320" y="2148840"/>
            <a:ext cx="4754880" cy="804672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11480" y="2176272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🕵️  Privacy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11480" y="2487168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send confidential client/patient data to public AI tools. Use private/on-premise models for sensitive data.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74320" y="3063240"/>
            <a:ext cx="4754880" cy="804672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11480" y="3090672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Environmental Impact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11480" y="3401568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GPT-4 used as much energy as ~500 US homes for a year. Choose wisely!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74320" y="3977640"/>
            <a:ext cx="4754880" cy="804672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11480" y="4005072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  Misinformation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11480" y="4315968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generate convincing fake news, deepfakes, and phishing emails at scale.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212080" y="1234440"/>
            <a:ext cx="3657600" cy="3547872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303520" y="129844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Rules for Responsible AI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257800" y="1755648"/>
            <a:ext cx="3520440" cy="42062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Text 18"/>
          <p:cNvSpPr/>
          <p:nvPr/>
        </p:nvSpPr>
        <p:spPr>
          <a:xfrm>
            <a:off x="5349240" y="178308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Always verify AI outputs before using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257800" y="2231136"/>
            <a:ext cx="3520440" cy="42062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Text 20"/>
          <p:cNvSpPr/>
          <p:nvPr/>
        </p:nvSpPr>
        <p:spPr>
          <a:xfrm>
            <a:off x="5349240" y="225856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Never submit confidential data to public AI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257800" y="2706624"/>
            <a:ext cx="3520440" cy="42062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2"/>
          <p:cNvSpPr/>
          <p:nvPr/>
        </p:nvSpPr>
        <p:spPr>
          <a:xfrm>
            <a:off x="5349240" y="2734056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Disclose when content is AI-generated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257800" y="3182112"/>
            <a:ext cx="3520440" cy="42062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7" name="Text 24"/>
          <p:cNvSpPr/>
          <p:nvPr/>
        </p:nvSpPr>
        <p:spPr>
          <a:xfrm>
            <a:off x="5349240" y="3209544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Keep humans in the loop for critical decisions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257800" y="3657600"/>
            <a:ext cx="3520440" cy="42062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349240" y="368503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Question outputs — you are responsible, not AI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257800" y="4133088"/>
            <a:ext cx="3520440" cy="42062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1" name="Text 28"/>
          <p:cNvSpPr/>
          <p:nvPr/>
        </p:nvSpPr>
        <p:spPr>
          <a:xfrm>
            <a:off x="5349240" y="416052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Report harmful AI behavior to your team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274320" y="475488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10B981">
              <a:alpha val="80000"/>
            </a:srgbClr>
          </a:solidFill>
          <a:ln/>
        </p:spPr>
      </p:sp>
      <p:sp>
        <p:nvSpPr>
          <p:cNvPr id="33" name="Text 30"/>
          <p:cNvSpPr/>
          <p:nvPr/>
        </p:nvSpPr>
        <p:spPr>
          <a:xfrm>
            <a:off x="365760" y="47731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 is a tool — like a hammer. It doesn't decide what to build. YOU do. Use it wisely."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→ How LLMs Are Born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fundamentally built using supervised learning on massive datasets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103120" cy="146304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80160"/>
            <a:ext cx="2103120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075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Data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19202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A → Output B pairs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(text sequences)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68880" y="17373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651760" y="1280160"/>
            <a:ext cx="2103120" cy="146304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51760" y="1280160"/>
            <a:ext cx="2103120" cy="320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13075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1664208"/>
            <a:ext cx="19202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next word, measure error, adjust weights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17373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937760" y="1280160"/>
            <a:ext cx="2103120" cy="146304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37760" y="1280160"/>
            <a:ext cx="210312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13075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of steps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1664208"/>
            <a:ext cx="19202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on hundreds of billions of sentences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40880" y="17373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223760" y="1280160"/>
            <a:ext cx="2103120" cy="146304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23760" y="1280160"/>
            <a:ext cx="210312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0" y="13075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Born!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0" y="1664208"/>
            <a:ext cx="19202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 ready to chat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926080"/>
            <a:ext cx="4114800" cy="20116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926080"/>
            <a:ext cx="4114800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29443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Supervised Learning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3337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labelled data: ~1-3 months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36850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model: ~1-3 months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403250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~3 months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37997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~6-9 months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2926080"/>
            <a:ext cx="4114800" cy="20116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2926080"/>
            <a:ext cx="4114800" cy="3474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29443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(Prompt-Based)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46320" y="3337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your prompt: minutes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36850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 iterate: days/weeks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46320" y="403250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days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46320" y="437997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Days to weeks! 🚀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6B6D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Key Takeaways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493776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60120"/>
            <a:ext cx="402336" cy="402336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601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969264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creates new content (text, images, code) — LLMs predict the next best word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81328"/>
            <a:ext cx="8412480" cy="493776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527048"/>
            <a:ext cx="402336" cy="40233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5270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153619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use Transformers + Attention to understand context and generate responses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048256"/>
            <a:ext cx="8412480" cy="493776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093976"/>
            <a:ext cx="402336" cy="40233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0939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2103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models: GPT-4 (OpenAI), Claude (Anthropic), Gemini (Google), Llama (Meta)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615184"/>
            <a:ext cx="8412480" cy="493776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2660904"/>
            <a:ext cx="402336" cy="40233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26609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267004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prompts = Role + Task + Context + Format. Iterate and improve!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182112"/>
            <a:ext cx="8412480" cy="493776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227832"/>
            <a:ext cx="402336" cy="402336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32278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3236976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hallucinate, have biases, and have knowledge cutoffs — always verify!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749040"/>
            <a:ext cx="8412480" cy="493776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1480" y="3794760"/>
            <a:ext cx="402336" cy="402336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37947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0120" y="3803904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Vector DBs give LLMs accurate, real, company-specific knowledge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4315968"/>
            <a:ext cx="8412480" cy="493776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11480" y="4361688"/>
            <a:ext cx="402336" cy="40233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411480" y="43616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60120" y="437083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responsibly: protect privacy, be transparent, keep humans accountable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5486400" cy="5486400"/>
          </a:xfrm>
          <a:prstGeom prst="ellipse">
            <a:avLst/>
          </a:prstGeom>
          <a:solidFill>
            <a:srgbClr val="06B6D4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1828800"/>
            <a:ext cx="4572000" cy="45720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73152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9144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457200" y="1920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Preview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57200" y="2487168"/>
            <a:ext cx="5029200" cy="36576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2505456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Agentic AI &amp; Agent Frameworks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907792"/>
            <a:ext cx="5029200" cy="36576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2926080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Function Calling &amp; Tool Use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3328416"/>
            <a:ext cx="5029200" cy="36576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3346704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LangChain &amp; CrewAI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3749040"/>
            <a:ext cx="5029200" cy="36576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3767328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Multi-Agent Systems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4169664"/>
            <a:ext cx="5029200" cy="36576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4187952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MCP (Model Context Protocol)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4590288"/>
            <a:ext cx="5029200" cy="36576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4608576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Building Real AI Applications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48006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tomorrow! 🚀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Generative AI – Day 1</dc:title>
  <dc:subject>PptxGenJS Presentation</dc:subject>
  <dc:creator>PptxGenJS</dc:creator>
  <cp:lastModifiedBy>PptxGenJS</cp:lastModifiedBy>
  <cp:revision>1</cp:revision>
  <dcterms:created xsi:type="dcterms:W3CDTF">2026-05-04T02:23:52Z</dcterms:created>
  <dcterms:modified xsi:type="dcterms:W3CDTF">2026-05-04T02:23:52Z</dcterms:modified>
</cp:coreProperties>
</file>