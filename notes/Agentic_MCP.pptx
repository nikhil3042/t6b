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F9731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8B5CF6">
              <a:alpha val="18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2296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0" y="82296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Training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286000" y="13258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5800" dirty="0"/>
          </a:p>
        </p:txBody>
      </p:sp>
      <p:sp>
        <p:nvSpPr>
          <p:cNvPr id="7" name="Text 4"/>
          <p:cNvSpPr/>
          <p:nvPr/>
        </p:nvSpPr>
        <p:spPr>
          <a:xfrm>
            <a:off x="2286000" y="2331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Frameworks · API · MCP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74320" y="3154680"/>
            <a:ext cx="2788920" cy="402336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3154680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Agentic AI?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3154680"/>
            <a:ext cx="2788920" cy="402336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/>
        </p:spPr>
      </p:sp>
      <p:sp>
        <p:nvSpPr>
          <p:cNvPr id="11" name="Text 8"/>
          <p:cNvSpPr/>
          <p:nvPr/>
        </p:nvSpPr>
        <p:spPr>
          <a:xfrm>
            <a:off x="3246120" y="3154680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Architecture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17920" y="3154680"/>
            <a:ext cx="2788920" cy="402336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6217920" y="3154680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&amp; Tool Use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4320" y="3630168"/>
            <a:ext cx="2788920" cy="402336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/>
        </p:spPr>
      </p:sp>
      <p:sp>
        <p:nvSpPr>
          <p:cNvPr id="15" name="Text 12"/>
          <p:cNvSpPr/>
          <p:nvPr/>
        </p:nvSpPr>
        <p:spPr>
          <a:xfrm>
            <a:off x="274320" y="3630168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&amp; CrewAI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46120" y="3630168"/>
            <a:ext cx="2788920" cy="402336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/>
        </p:spPr>
      </p:sp>
      <p:sp>
        <p:nvSpPr>
          <p:cNvPr id="17" name="Text 14"/>
          <p:cNvSpPr/>
          <p:nvPr/>
        </p:nvSpPr>
        <p:spPr>
          <a:xfrm>
            <a:off x="3246120" y="3630168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17920" y="3630168"/>
            <a:ext cx="2788920" cy="402336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/>
        </p:spPr>
      </p:sp>
      <p:sp>
        <p:nvSpPr>
          <p:cNvPr id="19" name="Text 16"/>
          <p:cNvSpPr/>
          <p:nvPr/>
        </p:nvSpPr>
        <p:spPr>
          <a:xfrm>
            <a:off x="6217920" y="3630168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Memory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74320" y="4105656"/>
            <a:ext cx="2788920" cy="402336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/>
        </p:spPr>
      </p:sp>
      <p:sp>
        <p:nvSpPr>
          <p:cNvPr id="21" name="Text 18"/>
          <p:cNvSpPr/>
          <p:nvPr/>
        </p:nvSpPr>
        <p:spPr>
          <a:xfrm>
            <a:off x="274320" y="4105656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Protocol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246120" y="4105656"/>
            <a:ext cx="2788920" cy="402336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/>
        </p:spPr>
      </p:sp>
      <p:sp>
        <p:nvSpPr>
          <p:cNvPr id="23" name="Text 20"/>
          <p:cNvSpPr/>
          <p:nvPr/>
        </p:nvSpPr>
        <p:spPr>
          <a:xfrm>
            <a:off x="3246120" y="4105656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MCP Servers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217920" y="4105656"/>
            <a:ext cx="2788920" cy="402336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/>
        </p:spPr>
      </p:sp>
      <p:sp>
        <p:nvSpPr>
          <p:cNvPr id="25" name="Text 22"/>
          <p:cNvSpPr/>
          <p:nvPr/>
        </p:nvSpPr>
        <p:spPr>
          <a:xfrm>
            <a:off x="6217920" y="4105656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Cases &amp; Safety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Agentic AI?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beyond chat — AI that plans, decides, and takes actions in the real world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4114800" cy="34747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34440"/>
            <a:ext cx="411480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527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Chatbot (Day 1)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393192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6479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to ONE message at a time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49424"/>
            <a:ext cx="393192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7685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between turns (by default)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393192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78892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take actions in other systems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73552"/>
            <a:ext cx="393192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30098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 what to do with the output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785616"/>
            <a:ext cx="393192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81304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ChatGPT answering a question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1234440"/>
            <a:ext cx="4114800" cy="34747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234440"/>
            <a:ext cx="4114800" cy="411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12527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Agent (Day 2)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00600" y="1737360"/>
            <a:ext cx="393192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76479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a SEQUENCE of steps autonomously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2249424"/>
            <a:ext cx="393192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227685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context across many steps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2761488"/>
            <a:ext cx="393192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278892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call tools, APIs, search the web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3273552"/>
            <a:ext cx="393192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30098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tasks end-to-end on your behalf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3785616"/>
            <a:ext cx="393192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381304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AI that books a flight for you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800600"/>
            <a:ext cx="8595360" cy="365760"/>
          </a:xfrm>
          <a:prstGeom prst="roundRect">
            <a:avLst>
              <a:gd name="adj" fmla="val 15000"/>
            </a:avLst>
          </a:prstGeom>
          <a:solidFill>
            <a:srgbClr val="F97316">
              <a:alpha val="8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81888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Agent Example: "Book me a flight to Mumbai next Friday under ₹5000" → Agent searches, compares, books, sends confirmation — all by itself!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has 4 core components that work together in a loop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F97316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2057400"/>
            <a:ext cx="1188720" cy="1188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749040" y="3520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137160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463040"/>
            <a:ext cx="594360" cy="594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" y="2084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274320" y="23957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task into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subtasks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7315200" y="137160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463040"/>
            <a:ext cx="594360" cy="594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0" y="2084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7315200" y="23957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(context)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(vector DB)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274320" y="329184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383280"/>
            <a:ext cx="594360" cy="5943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74320" y="40050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274320" y="43159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search, code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exec, API calls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7315200" y="329184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3383280"/>
            <a:ext cx="594360" cy="5943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315200" y="40050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7315200" y="43159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output,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if wrong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2286000" y="2103120"/>
            <a:ext cx="1417320" cy="365760"/>
          </a:xfrm>
          <a:prstGeom prst="line">
            <a:avLst/>
          </a:prstGeom>
          <a:noFill/>
          <a:ln w="25400">
            <a:solidFill>
              <a:srgbClr val="F97316"/>
            </a:solidFill>
            <a:prstDash val="dash"/>
          </a:ln>
        </p:spPr>
      </p:sp>
      <p:sp>
        <p:nvSpPr>
          <p:cNvPr id="25" name="Shape 18"/>
          <p:cNvSpPr/>
          <p:nvPr/>
        </p:nvSpPr>
        <p:spPr>
          <a:xfrm>
            <a:off x="5440680" y="2468880"/>
            <a:ext cx="1828800" cy="-365760"/>
          </a:xfrm>
          <a:prstGeom prst="line">
            <a:avLst/>
          </a:prstGeom>
          <a:noFill/>
          <a:ln w="25400">
            <a:solidFill>
              <a:srgbClr val="F97316"/>
            </a:solidFill>
            <a:prstDash val="dash"/>
          </a:ln>
        </p:spPr>
      </p:sp>
      <p:sp>
        <p:nvSpPr>
          <p:cNvPr id="26" name="Shape 19"/>
          <p:cNvSpPr/>
          <p:nvPr/>
        </p:nvSpPr>
        <p:spPr>
          <a:xfrm>
            <a:off x="2286000" y="3931920"/>
            <a:ext cx="1417320" cy="-548640"/>
          </a:xfrm>
          <a:prstGeom prst="line">
            <a:avLst/>
          </a:prstGeom>
          <a:noFill/>
          <a:ln w="25400">
            <a:solidFill>
              <a:srgbClr val="F97316"/>
            </a:solidFill>
            <a:prstDash val="dash"/>
          </a:ln>
        </p:spPr>
      </p:sp>
      <p:sp>
        <p:nvSpPr>
          <p:cNvPr id="27" name="Shape 20"/>
          <p:cNvSpPr/>
          <p:nvPr/>
        </p:nvSpPr>
        <p:spPr>
          <a:xfrm>
            <a:off x="5440680" y="3383280"/>
            <a:ext cx="1828800" cy="457200"/>
          </a:xfrm>
          <a:prstGeom prst="line">
            <a:avLst/>
          </a:prstGeom>
          <a:noFill/>
          <a:ln w="25400">
            <a:solidFill>
              <a:srgbClr val="F97316"/>
            </a:solidFill>
            <a:prstDash val="dash"/>
          </a:ln>
        </p:spPr>
      </p:sp>
      <p:sp>
        <p:nvSpPr>
          <p:cNvPr id="28" name="Text 21"/>
          <p:cNvSpPr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runs this loop until the task is complete!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&amp; Tool Use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LLMs reach outside their brain and interact with the real world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" y="118872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126187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" y="1783080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83080" y="164592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65960" y="118872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65960" y="126187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965960" y="1783080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decides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call a tool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164592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749040" y="118872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49040" y="126187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749040" y="1783080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49240" y="164592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532120" y="118872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32120" y="126187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📨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532120" y="1783080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returned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LLM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0" y="164592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15200" y="118872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0" y="126187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315200" y="1783080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replies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user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743200"/>
            <a:ext cx="4114800" cy="23317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743200"/>
            <a:ext cx="411480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7706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Tool Definition (simplified)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3154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"name": "get_weather",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34564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"description": "Get current weather",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37581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"parameters": {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0599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"city": "string"  // required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43616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4663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2743200"/>
            <a:ext cx="4206240" cy="23317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2743200"/>
            <a:ext cx="420624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277063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Common Tools Agents Use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09160" y="3154680"/>
            <a:ext cx="41148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317296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 Search: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0" y="3172968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Bing, DuckDuckGo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09160" y="3538728"/>
            <a:ext cx="4114800" cy="3474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9" name="Text 37"/>
          <p:cNvSpPr/>
          <p:nvPr/>
        </p:nvSpPr>
        <p:spPr>
          <a:xfrm>
            <a:off x="4800600" y="355701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 Executor: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17920" y="3557016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Python, JS in sandbox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09160" y="3922776"/>
            <a:ext cx="41148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Text 40"/>
          <p:cNvSpPr/>
          <p:nvPr/>
        </p:nvSpPr>
        <p:spPr>
          <a:xfrm>
            <a:off x="4800600" y="394106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Database Query: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17920" y="3941064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vector DB retrieval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09160" y="4306824"/>
            <a:ext cx="4114800" cy="3474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5" name="Text 43"/>
          <p:cNvSpPr/>
          <p:nvPr/>
        </p:nvSpPr>
        <p:spPr>
          <a:xfrm>
            <a:off x="4800600" y="432511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Calls: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217920" y="4325112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calendar, payments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709160" y="4690872"/>
            <a:ext cx="41148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8" name="Text 46"/>
          <p:cNvSpPr/>
          <p:nvPr/>
        </p:nvSpPr>
        <p:spPr>
          <a:xfrm>
            <a:off x="4800600" y="470916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File System: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217920" y="4709160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 docs &amp; CSVs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2743200"/>
            <a:ext cx="3657600" cy="3657600"/>
          </a:xfrm>
          <a:prstGeom prst="ellipse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Frameworks: LangChain &amp; CrewAI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are ready-made Lego kits — don't build everything from scratch!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0" cy="3520440"/>
          </a:xfrm>
          <a:prstGeom prst="roundRect">
            <a:avLst>
              <a:gd name="adj" fmla="val 311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4114800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527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LangChain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popular framework for building LLM-powered apps. Think of it as a toolkit with pre-built blocks.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304288"/>
            <a:ext cx="402336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331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Chains: Link prompts together in sequence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761488"/>
            <a:ext cx="402336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7889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Memory: Add short/long-term memory easily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218688"/>
            <a:ext cx="402336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246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Agents: Built-in agent with tool calling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675888"/>
            <a:ext cx="402336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703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Document loaders: PDFs, websites, APIs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4133088"/>
            <a:ext cx="402336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41605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Vector store connectors: Pinecone, Chroma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234440"/>
            <a:ext cx="4114800" cy="3520440"/>
          </a:xfrm>
          <a:prstGeom prst="roundRect">
            <a:avLst>
              <a:gd name="adj" fmla="val 311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234440"/>
            <a:ext cx="4114800" cy="38404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2527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CrewAI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6320" y="16916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for MULTI-AGENT systems. Assign roles to different AI agents that work as a team.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304288"/>
            <a:ext cx="402336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331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Roles: Researcher, Writer, Reviewer agents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2761488"/>
            <a:ext cx="402336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27889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Tasks: Each agent gets assigned tasks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3218688"/>
            <a:ext cx="402336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3246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Collaboration: Agents share outputs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675888"/>
            <a:ext cx="402336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3703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Delegation: Agents can hire sub-agents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4133088"/>
            <a:ext cx="402336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41605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Process: Sequential or parallel execution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specialized AI agents working as a team — like a company department!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429000" y="118872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F9731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29000" y="11887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Orchestrator Agent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05840" y="2103120"/>
            <a:ext cx="9144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74320" y="2743200"/>
            <a:ext cx="2057400" cy="160020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743200"/>
            <a:ext cx="2057400" cy="34747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2770632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Research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31546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web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information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2103120"/>
            <a:ext cx="9144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423160" y="2743200"/>
            <a:ext cx="2057400" cy="160020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2743200"/>
            <a:ext cx="2057400" cy="3474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2770632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Writer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31546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content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research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0" y="2103120"/>
            <a:ext cx="9144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572000" y="2743200"/>
            <a:ext cx="2057400" cy="160020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2743200"/>
            <a:ext cx="205740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2770632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Review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17720" y="31546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facts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quality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52360" y="2103120"/>
            <a:ext cx="9144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720840" y="2743200"/>
            <a:ext cx="2057400" cy="160020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20840" y="2743200"/>
            <a:ext cx="205740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2770632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Publisher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66560" y="31546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output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31720" y="3291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480560" y="3291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629400" y="3291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274320" y="4572000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65760" y="4599432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 Real Example: Generate a blog post on AI trends — Research Agent fetches news → Writer Agent drafts → Reviewer Agent fact-checks → Publisher sends email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8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01168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Memory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makes agents smarter — they can remember your preferences, past tasks, and long conversations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1234440"/>
            <a:ext cx="2788920" cy="3566160"/>
          </a:xfrm>
          <a:prstGeom prst="roundRect">
            <a:avLst>
              <a:gd name="adj" fmla="val 393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234440"/>
            <a:ext cx="2788920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25272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Short-Term Memory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16916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inside the context window (your current conversation). Forgotten when the session ends.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2423160"/>
            <a:ext cx="2606040" cy="292608"/>
          </a:xfrm>
          <a:prstGeom prst="rect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242316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Like your RAM — fast but temporary.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65760" y="278892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" y="30632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Current chat messages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5760" y="34747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Recent tool results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65760" y="3886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Active task state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46120" y="1234440"/>
            <a:ext cx="2788920" cy="3566160"/>
          </a:xfrm>
          <a:prstGeom prst="roundRect">
            <a:avLst>
              <a:gd name="adj" fmla="val 393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46120" y="1234440"/>
            <a:ext cx="2788920" cy="38404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5"/>
          <p:cNvSpPr/>
          <p:nvPr/>
        </p:nvSpPr>
        <p:spPr>
          <a:xfrm>
            <a:off x="3337560" y="125272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Long-Term Memory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337560" y="16916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a vector database. Persists between sessions and can hold millions of entries.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337560" y="2423160"/>
            <a:ext cx="2606040" cy="292608"/>
          </a:xfrm>
          <a:prstGeom prst="rect">
            <a:avLst/>
          </a:prstGeom>
          <a:solidFill>
            <a:srgbClr val="8B5CF6">
              <a:alpha val="3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3337560" y="242316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Like your hard drive — permanent storage.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337560" y="278892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337560" y="30632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preferences &amp; history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337560" y="34747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Past completed tasks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337560" y="3886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Factual knowledge base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217920" y="1234440"/>
            <a:ext cx="2788920" cy="3566160"/>
          </a:xfrm>
          <a:prstGeom prst="roundRect">
            <a:avLst>
              <a:gd name="adj" fmla="val 393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217920" y="1234440"/>
            <a:ext cx="278892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5"/>
          <p:cNvSpPr/>
          <p:nvPr/>
        </p:nvSpPr>
        <p:spPr>
          <a:xfrm>
            <a:off x="6309360" y="125272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Semantic Memory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309360" y="16916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knowledge from pre-training. The model's understanding of the world.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309360" y="2423160"/>
            <a:ext cx="2606040" cy="292608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6309360" y="242316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Like your education — baked in during training.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309360" y="278892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309360" y="30632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Language understanding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309360" y="34747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General facts &amp; reasoning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309360" y="3886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Learned skills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0116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 with Gen AI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your application to LLMs programmatically — the developer's superpower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274320" y="1188720"/>
            <a:ext cx="4846320" cy="333756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188720"/>
            <a:ext cx="484632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1207008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Simple API Call (Python — OpenAI)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1600200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openai import OpenAI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5760" y="1837944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OpenAI(api_key='YOUR_KEY')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5760" y="2075688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65760" y="231343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client.chat.completions.create(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65760" y="2551176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model="gpt-4o",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65760" y="2788920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messages=[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65760" y="3026664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{"role":"system", "content":"You are a test expert"},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65760" y="3264408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{"role":"user", "content":"Write 5 test cases for login"}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65760" y="350215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65760" y="3739896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65760" y="3977640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print(response.choices[0].message.content)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394960" y="1188720"/>
            <a:ext cx="3474720" cy="333756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394960" y="1188720"/>
            <a:ext cx="3474720" cy="3474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0" y="121615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Key Concepts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40680" y="1600200"/>
            <a:ext cx="338328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0"/>
          <p:cNvSpPr/>
          <p:nvPr/>
        </p:nvSpPr>
        <p:spPr>
          <a:xfrm>
            <a:off x="5532120" y="162763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Key: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565392" y="1627632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secret password to access the service. Never share it!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440680" y="2093976"/>
            <a:ext cx="3383280" cy="43891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Text 23"/>
          <p:cNvSpPr/>
          <p:nvPr/>
        </p:nvSpPr>
        <p:spPr>
          <a:xfrm>
            <a:off x="5532120" y="212140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565392" y="2121408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AI brain to use: gpt-4o, claude-3-5-sonnet, gemini-1.5-pro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440680" y="2587752"/>
            <a:ext cx="338328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532120" y="261518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Messages: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565392" y="2615184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conversation history. system = persona, user = input, assistant = output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440680" y="3081528"/>
            <a:ext cx="3383280" cy="43891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2" name="Text 29"/>
          <p:cNvSpPr/>
          <p:nvPr/>
        </p:nvSpPr>
        <p:spPr>
          <a:xfrm>
            <a:off x="5532120" y="310896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565392" y="3108960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0=predictable, 1=creative. Test generation → use 0!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440680" y="3575304"/>
            <a:ext cx="338328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Text 32"/>
          <p:cNvSpPr/>
          <p:nvPr/>
        </p:nvSpPr>
        <p:spPr>
          <a:xfrm>
            <a:off x="5532120" y="360273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tokens: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565392" y="3602736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output length to control cost. 1000 tokens ≈ 750 words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274320" y="4663440"/>
            <a:ext cx="8595360" cy="475488"/>
          </a:xfrm>
          <a:prstGeom prst="roundRect">
            <a:avLst>
              <a:gd name="adj" fmla="val 11538"/>
            </a:avLst>
          </a:prstGeom>
          <a:solidFill>
            <a:srgbClr val="F97316">
              <a:alpha val="8500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365760" y="4690872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Cost tip: You pay per token. Use shorter prompts, lower max_tokens in tests, and cache repeated responses to save money!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MCP?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— A standard 'plug' so any AI can connect to any tool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8595360" cy="9144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Analogy: MCP is like USB for AI. Before USB, every device needed a unique cable. MCP gives AI a universal connector — one standard for databases, files, web, calendars, and more!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286000"/>
            <a:ext cx="4023360" cy="2514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286000"/>
            <a:ext cx="402336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30428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😰  Before MCP (Custom per tool)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697480"/>
            <a:ext cx="3931920" cy="3474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72491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needs GitHub → build custom integration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081528"/>
            <a:ext cx="3931920" cy="3474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310896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needs Slack → build another integration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465576"/>
            <a:ext cx="3931920" cy="3474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349300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needs DB → build yet another one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849624"/>
            <a:ext cx="3931920" cy="3474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877056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by 100 tools = nightmare! 😱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4233672"/>
            <a:ext cx="3931920" cy="3474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426110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auth, format, error handling every time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286000"/>
            <a:ext cx="4023360" cy="2514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286000"/>
            <a:ext cx="402336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30428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MCP (One standard protocol)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92040" y="2697480"/>
            <a:ext cx="3931920" cy="3474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272491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ONCE: MCP Server for GitHub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92040" y="3081528"/>
            <a:ext cx="3931920" cy="3474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10896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ONCE: MCP Server for Slack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92040" y="3465576"/>
            <a:ext cx="3931920" cy="3474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349300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MCP-compatible AI can now use them!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3849624"/>
            <a:ext cx="3931920" cy="3474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3877056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protocol for ALL tools = developer joy 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92040" y="4233672"/>
            <a:ext cx="3931920" cy="3474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2" name="Text 30"/>
          <p:cNvSpPr/>
          <p:nvPr/>
        </p:nvSpPr>
        <p:spPr>
          <a:xfrm>
            <a:off x="4983480" y="426110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auth, format, error handling always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components that talk to each other in a standard way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2560320" cy="38404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161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MCP Host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Claude, VS Code)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application that WANTS to use tools. Manages overall connections.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0" y="196596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⟷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834640" y="246888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118872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188720"/>
            <a:ext cx="2560320" cy="38404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2161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MCP Client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146304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(Protocol layer)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166420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inside the Host. Speaks MCP language. Manages connection to each server.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52160" y="196596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⟷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852160" y="246888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09360" y="118872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1188720"/>
            <a:ext cx="256032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12161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MCP Server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146304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GitHub, DB, Files)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166420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that PROVIDES capabilities. Can be a file system, API, database, etc.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520440"/>
            <a:ext cx="8595360" cy="16002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520440"/>
            <a:ext cx="859536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53872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Types — How Client &amp; Server Communicate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0040" y="3931920"/>
            <a:ext cx="2743200" cy="10515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Shape 25"/>
          <p:cNvSpPr/>
          <p:nvPr/>
        </p:nvSpPr>
        <p:spPr>
          <a:xfrm>
            <a:off x="320040" y="3931920"/>
            <a:ext cx="2743200" cy="2560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395020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4224528"/>
            <a:ext cx="2560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communicates via stdin/stdout. Simple, local tools.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0" y="3931920"/>
            <a:ext cx="2743200" cy="10515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Shape 29"/>
          <p:cNvSpPr/>
          <p:nvPr/>
        </p:nvSpPr>
        <p:spPr>
          <a:xfrm>
            <a:off x="3200400" y="3931920"/>
            <a:ext cx="2743200" cy="2560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3291840" y="395020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+ SSE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91840" y="4224528"/>
            <a:ext cx="2560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Web-based. Server sends events to client via HTTP. Good for remote servers.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80760" y="3931920"/>
            <a:ext cx="2743200" cy="10515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Shape 33"/>
          <p:cNvSpPr/>
          <p:nvPr/>
        </p:nvSpPr>
        <p:spPr>
          <a:xfrm>
            <a:off x="6080760" y="3931920"/>
            <a:ext cx="2743200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6172200" y="395020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172200" y="4224528"/>
            <a:ext cx="2560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real-time communication. Best for live, interactive tools.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114800" cy="4114800"/>
          </a:xfrm>
          <a:prstGeom prst="ellipse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Types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expose Resources, Tools, and Prompts to AI clients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4114800" cy="34747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6187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File System Server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AI access to read/write files on your computer or storage.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Read local PDFs &amp; code files    ✓ Write test reports automatically    ✓ Search through project folders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23444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234440"/>
            <a:ext cx="4114800" cy="3474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26187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Database Server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16459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AI directly to databases — SQL queries, record updates.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210312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Query PostgreSQL/MySQL    ✓ Fetch test results from DB    ✓ Update bug status records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15468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154680"/>
            <a:ext cx="411480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18211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Web/API Server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35661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browse websites and call external REST APIs.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02336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Scrape documentation    ✓ Call weather/payment APIs    ✓ Check live bug tracker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315468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154680"/>
            <a:ext cx="411480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18211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Custom Tool Server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35661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 it — any capability your AI needs that doesn't exist yet.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402336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Run test suites    ✓ Deploy to staging    ✓ Send Slack notifications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MCP Server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steps to create your own MCP server and connect it to Claude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88920" cy="1691640"/>
          </a:xfrm>
          <a:prstGeom prst="roundRect">
            <a:avLst>
              <a:gd name="adj" fmla="val 5405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298448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132588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MCP SDK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" y="1828800"/>
            <a:ext cx="2633472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865376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mcp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@modelcontextprotocol/sdk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788920" cy="1691640"/>
          </a:xfrm>
          <a:prstGeom prst="roundRect">
            <a:avLst>
              <a:gd name="adj" fmla="val 5405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9272" y="1298448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3319272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67912" y="132588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Tools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19272" y="1828800"/>
            <a:ext cx="2633472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3355848" y="1865376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@server.tool("get_bug_count")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get_bug_count(project: str):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your logic here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{"count": 42}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2788920" cy="1691640"/>
          </a:xfrm>
          <a:prstGeom prst="roundRect">
            <a:avLst>
              <a:gd name="adj" fmla="val 5405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91072" y="129844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291072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39712" y="132588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Resources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91072" y="1828800"/>
            <a:ext cx="2633472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6327648" y="1865376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@server.resource("bug://list")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list_bugs():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bugs_from_database()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063240"/>
            <a:ext cx="2788920" cy="1691640"/>
          </a:xfrm>
          <a:prstGeom prst="roundRect">
            <a:avLst>
              <a:gd name="adj" fmla="val 5405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7472" y="317296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" y="3172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96112" y="320040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Server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" y="3703320"/>
            <a:ext cx="2633472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3739896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__name__ == "__main__":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mcp.run(transport="stdio")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46120" y="3063240"/>
            <a:ext cx="2788920" cy="1691640"/>
          </a:xfrm>
          <a:prstGeom prst="roundRect">
            <a:avLst>
              <a:gd name="adj" fmla="val 5405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19272" y="3172968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3319272" y="3172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867912" y="320040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Claude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319272" y="3703320"/>
            <a:ext cx="2633472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Text 31"/>
          <p:cNvSpPr/>
          <p:nvPr/>
        </p:nvSpPr>
        <p:spPr>
          <a:xfrm>
            <a:off x="3355848" y="3739896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to claude_desktop_config.json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Claude can now use your tools!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0" y="306324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91072" y="3172968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6" name="Text 34"/>
          <p:cNvSpPr/>
          <p:nvPr/>
        </p:nvSpPr>
        <p:spPr>
          <a:xfrm>
            <a:off x="6291072" y="3172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839712" y="32004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Claude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91072" y="3703320"/>
            <a:ext cx="2487168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3730752"/>
            <a:ext cx="24505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claude_desktop_config.json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Claude uses your tools!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+ Claude: Real-World Use Cases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becomes possible when Claude connects to your tools via MCP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788920" cy="1719072"/>
          </a:xfrm>
          <a:prstGeom prst="roundRect">
            <a:avLst>
              <a:gd name="adj" fmla="val 531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788920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6187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Smart Test Automation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18488"/>
            <a:ext cx="26060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says: "Run regression tests, find failures, write bug reports for each one and assign to the right developer." MCP connects to: Test runner + Jira + Slack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788920" cy="1719072"/>
          </a:xfrm>
          <a:prstGeom prst="roundRect">
            <a:avLst>
              <a:gd name="adj" fmla="val 531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234440"/>
            <a:ext cx="2788920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26187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Live Dashboard Assistant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618488"/>
            <a:ext cx="26060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says: "Summarize this week's test results, highlight regressions, and email the report to stakeholders." MCP connects to: DB + Email + Reports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234440"/>
            <a:ext cx="2788920" cy="1719072"/>
          </a:xfrm>
          <a:prstGeom prst="roundRect">
            <a:avLst>
              <a:gd name="adj" fmla="val 531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234440"/>
            <a:ext cx="278892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26187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AI Code Reviewer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1618488"/>
            <a:ext cx="26060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says: "Review my PR, check for security issues, and comment on GitHub." MCP connects to: GitHub + Code scanner + Jira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108960"/>
            <a:ext cx="2788920" cy="1719072"/>
          </a:xfrm>
          <a:prstGeom prst="roundRect">
            <a:avLst>
              <a:gd name="adj" fmla="val 531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108960"/>
            <a:ext cx="278892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13639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Document Intelligence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493008"/>
            <a:ext cx="26060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Lead says: "Read all test plans in this folder and create a master test strategy document." MCP connects to: File System + PDF reader + Docs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3108960"/>
            <a:ext cx="2788920" cy="1719072"/>
          </a:xfrm>
          <a:prstGeom prst="roundRect">
            <a:avLst>
              <a:gd name="adj" fmla="val 531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3108960"/>
            <a:ext cx="2788920" cy="320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3337560" y="313639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Incident Response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3493008"/>
            <a:ext cx="26060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says: "Monitor logs, if errors spike then open a ticket, alert on Slack, and suggest fixes." MCP connects to: Logs + Jira + Slack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3108960"/>
            <a:ext cx="2788920" cy="1719072"/>
          </a:xfrm>
          <a:prstGeom prst="roundRect">
            <a:avLst>
              <a:gd name="adj" fmla="val 531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3108960"/>
            <a:ext cx="2788920" cy="3200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313639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🗃️ Database QA Agent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3493008"/>
            <a:ext cx="26060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Admin says: "Check for NULL values in critical columns and generate a data quality report." MCP connects to: PostgreSQL + Reporting + Email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19456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0116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Limitations &amp; Safety Guardrails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capability = more responsibility. Agents need careful safety boundaries.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274320" y="1188720"/>
            <a:ext cx="4023360" cy="283464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188720"/>
            <a:ext cx="402336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120700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Agent Limitations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0040" y="1600200"/>
            <a:ext cx="393192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16276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Runaway costs: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901952" y="16276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 make many API calls. Always set spending limits!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" y="2057400"/>
            <a:ext cx="393192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9"/>
          <p:cNvSpPr/>
          <p:nvPr/>
        </p:nvSpPr>
        <p:spPr>
          <a:xfrm>
            <a:off x="411480" y="20848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Hallucinated actions: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901952" y="20848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may try to take wrong actions — needs human review for critical steps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0040" y="2514600"/>
            <a:ext cx="393192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25420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Infinite loops: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901952" y="25420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gets stuck trying to complete an impossible task endlessly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0040" y="2971800"/>
            <a:ext cx="393192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Text 15"/>
          <p:cNvSpPr/>
          <p:nvPr/>
        </p:nvSpPr>
        <p:spPr>
          <a:xfrm>
            <a:off x="411480" y="29992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Cascading errors: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901952" y="29992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wrong step causes all later steps to fail too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20040" y="3429000"/>
            <a:ext cx="393192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8"/>
          <p:cNvSpPr/>
          <p:nvPr/>
        </p:nvSpPr>
        <p:spPr>
          <a:xfrm>
            <a:off x="411480" y="34564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Over-permission: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901952" y="34564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give agents more access than they need — principle of least privilege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572000" y="1188720"/>
            <a:ext cx="4297680" cy="283464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572000" y="1188720"/>
            <a:ext cx="429768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2"/>
          <p:cNvSpPr/>
          <p:nvPr/>
        </p:nvSpPr>
        <p:spPr>
          <a:xfrm>
            <a:off x="4663440" y="120700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Safety Guardrails to Build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617720" y="1600200"/>
            <a:ext cx="420624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4"/>
          <p:cNvSpPr/>
          <p:nvPr/>
        </p:nvSpPr>
        <p:spPr>
          <a:xfrm>
            <a:off x="4709160" y="162763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Human-in-the-loop: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473952" y="16276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human approval before irreversible actions (delete, send, pay)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617720" y="2057400"/>
            <a:ext cx="420624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0" name="Text 27"/>
          <p:cNvSpPr/>
          <p:nvPr/>
        </p:nvSpPr>
        <p:spPr>
          <a:xfrm>
            <a:off x="4709160" y="208483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Action sandboxing: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473952" y="20848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agents in safe environments before giving real production access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617720" y="2514600"/>
            <a:ext cx="420624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Text 30"/>
          <p:cNvSpPr/>
          <p:nvPr/>
        </p:nvSpPr>
        <p:spPr>
          <a:xfrm>
            <a:off x="4709160" y="254203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Rate limits: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473952" y="25420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the number of API calls, tool uses per minute/hour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617720" y="2971800"/>
            <a:ext cx="420624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6" name="Text 33"/>
          <p:cNvSpPr/>
          <p:nvPr/>
        </p:nvSpPr>
        <p:spPr>
          <a:xfrm>
            <a:off x="4709160" y="299923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Allowlists: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473952" y="29992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permit specific tools/URLs/DBs the agent can access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617720" y="3429000"/>
            <a:ext cx="420624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9" name="Text 36"/>
          <p:cNvSpPr/>
          <p:nvPr/>
        </p:nvSpPr>
        <p:spPr>
          <a:xfrm>
            <a:off x="4709160" y="345643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Audit logging: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473952" y="34564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action so you can review, debug, or roll back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274320" y="4160520"/>
            <a:ext cx="8595360" cy="566928"/>
          </a:xfrm>
          <a:prstGeom prst="roundRect">
            <a:avLst>
              <a:gd name="adj" fmla="val 9677"/>
            </a:avLst>
          </a:prstGeom>
          <a:solidFill>
            <a:srgbClr val="F59E0B">
              <a:alpha val="88000"/>
            </a:srgbClr>
          </a:solidFill>
          <a:ln/>
        </p:spPr>
      </p:sp>
      <p:sp>
        <p:nvSpPr>
          <p:cNvPr id="42" name="Text 39"/>
          <p:cNvSpPr/>
          <p:nvPr/>
        </p:nvSpPr>
        <p:spPr>
          <a:xfrm>
            <a:off x="365760" y="417880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Golden Rule: Agents should be ASSISTANTS, not AUTONOMOUS decision-makers for anything important. Always keep humans in the loop for consequential actions!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2-Day Programme — Complete Summary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34747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3268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 Day 1 — Foundations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4114800" cy="4023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3258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 is Gen AI, LLMs, and how they work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737360"/>
            <a:ext cx="411480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7647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Tokens, Context Windows, Transformers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176272"/>
            <a:ext cx="4114800" cy="4023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20370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Popular Models: GPT-4, Claude, Gemini, Llama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615184"/>
            <a:ext cx="411480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4261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Prompt Engineering (Role/Task/Context/Format)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054096"/>
            <a:ext cx="4114800" cy="4023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0815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Limitations, Hallucinations, Bias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493008"/>
            <a:ext cx="411480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520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RAG &amp; Vector Databases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931920"/>
            <a:ext cx="4114800" cy="4023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9593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Ethics &amp; Responsible AI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93268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📙  Day 2 — Advanced &amp; Agentic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1298448"/>
            <a:ext cx="4114800" cy="4023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13258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Agentic AI vs Chatbots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1737360"/>
            <a:ext cx="411480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7647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Agent Architecture (Plan/Memory/Tools/Reflect)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176272"/>
            <a:ext cx="4114800" cy="4023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220370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Function Calling &amp; Tool Use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2615184"/>
            <a:ext cx="411480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64261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LangChain &amp; CrewAI frameworks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054096"/>
            <a:ext cx="4114800" cy="4023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30815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Multi-Agent Systems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3493008"/>
            <a:ext cx="411480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520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Agent Memory (Short/Long-term)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3931920"/>
            <a:ext cx="4114800" cy="4023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39593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API Integration, MCP Protocol &amp; Servers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5486400" cy="5486400"/>
          </a:xfrm>
          <a:prstGeom prst="ellipse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8B5CF6">
              <a:alpha val="13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64008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914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80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now ready to build with Generative AI 🚀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2514600"/>
            <a:ext cx="5669280" cy="384048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2542032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Try the Claude API or OpenAI API today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944368"/>
            <a:ext cx="5669280" cy="384048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971800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Explore LangChain: python.langchain.com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374136"/>
            <a:ext cx="5669280" cy="384048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3401568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Try CrewAI: crewai.com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3803904"/>
            <a:ext cx="5669280" cy="384048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3831336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Read MCP docs: modelcontextprotocol.io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4233672"/>
            <a:ext cx="5669280" cy="384048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/>
        </p:spPr>
      </p:sp>
      <p:sp>
        <p:nvSpPr>
          <p:cNvPr id="16" name="Text 13"/>
          <p:cNvSpPr/>
          <p:nvPr/>
        </p:nvSpPr>
        <p:spPr>
          <a:xfrm>
            <a:off x="594360" y="4261104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Build your first agent this week!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4754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discuss! 💬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AI Training – Day 2</dc:title>
  <dc:subject>PptxGenJS Presentation</dc:subject>
  <dc:creator>PptxGenJS</dc:creator>
  <cp:lastModifiedBy>PptxGenJS</cp:lastModifiedBy>
  <cp:revision>1</cp:revision>
  <dcterms:created xsi:type="dcterms:W3CDTF">2026-05-04T17:05:44Z</dcterms:created>
  <dcterms:modified xsi:type="dcterms:W3CDTF">2026-05-04T17:05:44Z</dcterms:modified>
</cp:coreProperties>
</file>